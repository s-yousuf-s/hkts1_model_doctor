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141B2D"/>
    <a:srgbClr val="737B86"/>
    <a:srgbClr val="CCFFCC"/>
    <a:srgbClr val="0B1220"/>
    <a:srgbClr val="003300"/>
    <a:srgbClr val="336699"/>
    <a:srgbClr val="006666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45882" autoAdjust="0"/>
  </p:normalViewPr>
  <p:slideViewPr>
    <p:cSldViewPr snapToGrid="0" snapToObjects="1">
      <p:cViewPr varScale="1">
        <p:scale>
          <a:sx n="82" d="100"/>
          <a:sy n="82" d="100"/>
        </p:scale>
        <p:origin x="70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626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r>
              <a:rPr lang="en-US" dirty="0"/>
              <a:t>
Model Doctor is a general-purpose Python auditor that inspects an already-trained ML pipeline — the model plus the train/test data it was fit on — and flags common failure patterns automatically, without being hardcoded to any single model type or dataset.
</a:t>
            </a:r>
            <a:r>
              <a:rPr lang="en-US" b="1" dirty="0"/>
              <a:t>
WHY:</a:t>
            </a:r>
            <a:r>
              <a:rPr lang="en-US" dirty="0"/>
              <a:t>
Clients increasingly hire ML practitioners not to build a model from scratch, but to audit and rescue one that already exists and isn't performing as expected — a differentiated, high-trust service compared to commodity model-building work. Manually checking a pipeline for every known failure mode is slow and easy to get wrong; this project automates that check.
</a:t>
            </a:r>
            <a:r>
              <a:rPr lang="en-US" b="1" dirty="0"/>
              <a:t>Deck Flow:</a:t>
            </a:r>
            <a:r>
              <a:rPr lang="en-US" dirty="0"/>
              <a:t>
1. The problem — why pipelines fail silently
2. What the tool detects, and why these categories specifically
3. Proof-of-work — 4 deliberately-flawed pipelines, built to break it
4. Generalizability — real and synthetic data it was never tuned against
5. Confidence scoring — going beyond severity alone
6. Beyond the notebook — CLI and live dashboard
7. Automated test suite
8. Key Challenges and Learnings
9. Conclusion and Future 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r>
              <a:rPr lang="en-US" dirty="0"/>
              <a:t>
Four examples of pipeline failures that don't throw exceptions — they just quietly produce numbers that look fine until the model reaches production.
</a:t>
            </a:r>
            <a:r>
              <a:rPr lang="en-US" b="1" dirty="0"/>
              <a:t>WHY:</a:t>
            </a:r>
            <a:r>
              <a:rPr lang="en-US" dirty="0"/>
              <a:t>
Each of these is genuinely hard to catch by eye: a leaked scaler still produces a valid-looking accuracy score; a model trained on duplicated data still "validates" against its own test set. The whole reason to automate this is that manual review misses exactly these cases.
</a:t>
            </a:r>
            <a:r>
              <a:rPr lang="en-US" b="1" dirty="0"/>
              <a:t>HOW:</a:t>
            </a:r>
            <a:r>
              <a:rPr lang="en-US" dirty="0"/>
              <a:t>
This project answers the central question in two stages, shown later in this deck: first, build pipelines that deliberately contain each of these bugs and confirm the auditor catches them (proof-of-work); second, run the same, unmodified auditor against real and synthetic data it has never seen, to confirm it isn't just memorizing its own test fixtures (generalizability).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r>
              <a:rPr lang="en-US" dirty="0"/>
              <a:t>
All 6 categories were implemented — not an arbitrary personal selection, but the exact </a:t>
            </a:r>
            <a:r>
              <a:rPr lang="en-US" b="1" dirty="0"/>
              <a:t>Core Requirements</a:t>
            </a:r>
            <a:r>
              <a:rPr lang="en-US" dirty="0"/>
              <a:t> named in the official problem statement.
</a:t>
            </a:r>
            <a:r>
              <a:rPr lang="en-US" b="1" dirty="0"/>
              <a:t>WHY THESE AND NOT SOMETHING ELSE:</a:t>
            </a:r>
            <a:r>
              <a:rPr lang="en-US" dirty="0"/>
              <a:t>
"</a:t>
            </a:r>
            <a:r>
              <a:rPr lang="en-US" b="1" dirty="0"/>
              <a:t>Duplicate detection</a:t>
            </a:r>
            <a:r>
              <a:rPr lang="en-US" dirty="0"/>
              <a:t>" and "</a:t>
            </a:r>
            <a:r>
              <a:rPr lang="en-US" b="1" dirty="0"/>
              <a:t>missing-value detection</a:t>
            </a:r>
            <a:r>
              <a:rPr lang="en-US" dirty="0"/>
              <a:t>" are not missing — they're already here, just organized under the failure mode they actually cause rather than as generic top-level checks: duplicate detection is train/test contamination specifically (the failure mode that matters for a pipeline), and missing-value detection is folded into data quality alongside column-mismatch and unseen-category checks.
General EDA — distributions, correlations, outlier exploration — is deliberately out of scope. </a:t>
            </a:r>
          </a:p>
          <a:p>
            <a:r>
              <a:rPr lang="en-US" dirty="0"/>
              <a:t>Model Doctor audits an already-trained pipeline's integrity; EDA is a different, upstream task that happens before modeling starts, not something you audit a trained pipeline for after the fact. Conflating the two would blur what the tool is actually for.
</a:t>
            </a:r>
            <a:r>
              <a:rPr lang="en-US" b="1" dirty="0"/>
              <a:t>HOW:</a:t>
            </a:r>
            <a:r>
              <a:rPr lang="en-US" dirty="0"/>
              <a:t>
Each detector is against a fitted estimator/Pipeline's own attributes (.steps, .predict, .predict_proba) rather than checking for a specific class, which is what lets one auditor work across LogisticRegression, RandomForest, XGBoost, and DecisionTree without per-model special-casing.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r>
              <a:rPr lang="en-US" dirty="0"/>
              <a:t>
Four pipelines, each engineered to contain exactly one known bug, spanning 3 model types and both classification and regression.
</a:t>
            </a:r>
            <a:r>
              <a:rPr lang="en-US" b="1" dirty="0"/>
              <a:t>WHY:</a:t>
            </a:r>
            <a:r>
              <a:rPr lang="en-US" dirty="0"/>
              <a:t>
Rather than rely on organizer-provided broken examples, this project builds its own proof-of-work — demonstrating the auditor catches real bugs it was never told about in advance, only shown the resulting fitted model and data.
</a:t>
            </a:r>
            <a:r>
              <a:rPr lang="en-US" b="1" dirty="0"/>
              <a:t>HOW:</a:t>
            </a:r>
            <a:r>
              <a:rPr lang="en-US" dirty="0"/>
              <a:t>
</a:t>
            </a:r>
            <a:r>
              <a:rPr lang="en-US" b="1" dirty="0"/>
              <a:t>Pipeline 1</a:t>
            </a:r>
            <a:r>
              <a:rPr lang="en-US" dirty="0"/>
              <a:t>: StandardScaler fit on the full dataset before the split, so it "sees" test-set statistics during training.
</a:t>
            </a:r>
            <a:r>
              <a:rPr lang="en-US" b="1" dirty="0"/>
              <a:t>Pipeline 2</a:t>
            </a:r>
            <a:r>
              <a:rPr lang="en-US" dirty="0"/>
              <a:t>: 8 training rows deliberately duplicated into the test set.
</a:t>
            </a:r>
            <a:r>
              <a:rPr lang="en-US" b="1" dirty="0"/>
              <a:t>Pipeline 3</a:t>
            </a:r>
            <a:r>
              <a:rPr lang="en-US" dirty="0"/>
              <a:t>: an unconstrained, deep XGBoost regressor on a small (442-row) dataset — a textbook overfitting setup.
</a:t>
            </a:r>
            <a:r>
              <a:rPr lang="en-US" b="1" dirty="0"/>
              <a:t>Pipeline 4</a:t>
            </a:r>
            <a:r>
              <a:rPr lang="en-US" dirty="0"/>
              <a:t>: breast_cancer resampled to a ~62:1 class imbalance, with a regularized LogisticRegression that leans toward the majority class.</a:t>
            </a:r>
          </a:p>
          <a:p>
            <a:r>
              <a:rPr lang="en-US" dirty="0"/>
              <a:t>
</a:t>
            </a:r>
            <a:r>
              <a:rPr lang="en-US" i="1" dirty="0"/>
              <a:t>Each pipeline's exact evidence numbers (contamination %, R² gap, accuracy vs. macro-F1) are detailed in the notebook's own Interpretation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r>
              <a:rPr lang="en-US" dirty="0"/>
              <a:t>
Four checks run against data and models the detectors were never tuned against: </a:t>
            </a:r>
            <a:r>
              <a:rPr lang="en-US" b="1" dirty="0"/>
              <a:t>two real external datasets </a:t>
            </a:r>
            <a:r>
              <a:rPr lang="en-US" dirty="0"/>
              <a:t>(Titanic, INDUSTRY.csv) and </a:t>
            </a:r>
            <a:r>
              <a:rPr lang="en-US" b="1" dirty="0"/>
              <a:t>two synthetic datasets</a:t>
            </a:r>
            <a:r>
              <a:rPr lang="en-US" dirty="0"/>
              <a:t>.
</a:t>
            </a:r>
          </a:p>
          <a:p>
            <a:r>
              <a:rPr lang="en-US" b="1" dirty="0"/>
              <a:t>WHY:</a:t>
            </a:r>
            <a:r>
              <a:rPr lang="en-US" dirty="0"/>
              <a:t>
Proof-of-work alone only shows the auditor catches bugs it was built to catch. </a:t>
            </a:r>
          </a:p>
          <a:p>
            <a:r>
              <a:rPr lang="en-US" dirty="0"/>
              <a:t>This is the harder, more meaningful test: does it hold up on genuinely unfamiliar data, in both directions — correctly flagging real problems, and correctly staying quiet on real, honest work?
</a:t>
            </a:r>
          </a:p>
          <a:p>
            <a:r>
              <a:rPr lang="en-US" b="1" dirty="0"/>
              <a:t>HOW </a:t>
            </a:r>
            <a:r>
              <a:rPr lang="en-US" dirty="0"/>
              <a:t>— </a:t>
            </a:r>
            <a:r>
              <a:rPr lang="en-US" i="1" dirty="0"/>
              <a:t>the two standout results</a:t>
            </a:r>
            <a:r>
              <a:rPr lang="en-US" dirty="0"/>
              <a:t>:
</a:t>
            </a:r>
            <a:r>
              <a:rPr lang="en-US" b="1" dirty="0"/>
              <a:t>Titanic</a:t>
            </a:r>
            <a:r>
              <a:rPr lang="en-US" dirty="0"/>
              <a:t>: </a:t>
            </a:r>
          </a:p>
          <a:p>
            <a:r>
              <a:rPr lang="en-US" dirty="0"/>
              <a:t>Built with a correctly-written pipeline, no injected bugs at all — yet still flagged critical contamination, because several passengers genuinely share identical feature values once identifier columns are dropped. </a:t>
            </a:r>
          </a:p>
          <a:p>
            <a:r>
              <a:rPr lang="en-US" dirty="0"/>
              <a:t>This is real, unplanted evidence the tool works on unfamiliar data, not a manufactured example.
</a:t>
            </a:r>
          </a:p>
          <a:p>
            <a:r>
              <a:rPr lang="en-US" b="1" dirty="0"/>
              <a:t>INDUSTRY.csv</a:t>
            </a:r>
            <a:r>
              <a:rPr lang="en-US" dirty="0"/>
              <a:t>: </a:t>
            </a:r>
          </a:p>
          <a:p>
            <a:r>
              <a:rPr lang="en-US" dirty="0"/>
              <a:t>A regularized RandomForest with an R² near zero (a poor model) still produced zero findings — correctly, because Model Doctor audits pipeline integrity, not model quality. Those are different questions, and conflating them would make the tool less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r>
              <a:rPr lang="en-US" dirty="0"/>
              <a:t>
Every finding across all 6 detectors now carries a confidence score (0-100%), in addition to its severity label.
</a:t>
            </a:r>
            <a:r>
              <a:rPr lang="en-US" b="1" dirty="0"/>
              <a:t>WHY:</a:t>
            </a:r>
            <a:r>
              <a:rPr lang="en-US" dirty="0"/>
              <a:t>
</a:t>
            </a:r>
            <a:r>
              <a:rPr lang="en-US" b="1" dirty="0"/>
              <a:t>Severity</a:t>
            </a:r>
            <a:r>
              <a:rPr lang="en-US" dirty="0"/>
              <a:t> alone treats a value that's just barely past its flagging threshold identically to one that's wildly past it, as long as both land in the same bucket. </a:t>
            </a:r>
          </a:p>
          <a:p>
            <a:r>
              <a:rPr lang="en-US" dirty="0"/>
              <a:t>That loses real information — a real auditor would treat those two cases very differently. </a:t>
            </a:r>
          </a:p>
          <a:p>
            <a:r>
              <a:rPr lang="en-US" dirty="0"/>
              <a:t>This is a genuine enhancement, not a checkbox: it changes what a reader can conclude from a finding, not just how it looks.
</a:t>
            </a:r>
            <a:r>
              <a:rPr lang="en-US" b="1" dirty="0"/>
              <a:t>HOW:</a:t>
            </a:r>
            <a:r>
              <a:rPr lang="en-US" dirty="0"/>
              <a:t>
Confidence rises from </a:t>
            </a:r>
            <a:r>
              <a:rPr lang="en-US" b="1" dirty="0"/>
              <a:t>50%</a:t>
            </a:r>
            <a:r>
              <a:rPr lang="en-US" dirty="0"/>
              <a:t> (just past threshold — genuinely borderline) toward </a:t>
            </a:r>
            <a:r>
              <a:rPr lang="en-US" b="1" dirty="0"/>
              <a:t>99%</a:t>
            </a:r>
            <a:r>
              <a:rPr lang="en-US" dirty="0"/>
              <a:t> as a value moves further past that threshold, computed from numbers each detector already produces — a gap, a ratio, a percentage — never a separately invented certainty judgment. </a:t>
            </a:r>
          </a:p>
          <a:p>
            <a:r>
              <a:rPr lang="en-US" dirty="0"/>
              <a:t>This was implemented, tested (2 dedicated tests confirming confidence scales with severity and stays bounded 0-1), and is visible in every report format: </a:t>
            </a:r>
            <a:r>
              <a:rPr lang="en-US" b="1" i="1" dirty="0"/>
              <a:t>HTML, Markdown, the CLI, and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r>
              <a:rPr lang="en-US" dirty="0"/>
              <a:t>
The CLI script — </a:t>
            </a:r>
            <a:r>
              <a:rPr lang="en-US" b="1" dirty="0"/>
              <a:t>model_doctor_cli.py </a:t>
            </a:r>
            <a:r>
              <a:rPr lang="en-US" dirty="0"/>
              <a:t>— audits any saved model from a terminal or Colab shell.
</a:t>
            </a:r>
            <a:r>
              <a:rPr lang="en-US" b="1" dirty="0"/>
              <a:t>WHY:</a:t>
            </a:r>
            <a:r>
              <a:rPr lang="en-US" dirty="0"/>
              <a:t>
Someone integrating this into a real workflow wants a script callable on any saved model, not a notebook they have to open and run cell-by-cell. 
</a:t>
            </a:r>
            <a:r>
              <a:rPr lang="en-US" b="1" dirty="0"/>
              <a:t>HOW:</a:t>
            </a:r>
            <a:r>
              <a:rPr lang="en-US" dirty="0"/>
              <a:t>
Takes --model, --train, --test, --target, --out. Internally calls the same audit_from_files() function the dashboard's second mode uses, so this wasn't two separate builds — one function, two interfaces. </a:t>
            </a:r>
          </a:p>
          <a:p>
            <a:r>
              <a:rPr lang="en-US" dirty="0"/>
              <a:t>Output filenames are timestamped by default, and the notebook's own CLI demo cell shows the realistic pattern of picking up the most recently created model via glob rather than a hardcoded filename.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r>
              <a:rPr lang="en-US" dirty="0"/>
              <a:t>
</a:t>
            </a:r>
            <a:r>
              <a:rPr lang="en-US" b="1" dirty="0"/>
              <a:t>The dashboard's first mode: </a:t>
            </a:r>
            <a:r>
              <a:rPr lang="en-US" dirty="0"/>
              <a:t>Upload a raw CSV, and it handles training and auditing end to end.
</a:t>
            </a:r>
            <a:r>
              <a:rPr lang="en-US" b="1" dirty="0"/>
              <a:t>WHY:</a:t>
            </a:r>
            <a:r>
              <a:rPr lang="en-US" dirty="0"/>
              <a:t>
This is the fastest way for someone to try the tool on their own data with zero setup — </a:t>
            </a:r>
            <a:r>
              <a:rPr lang="en-US" b="1" i="1" dirty="0"/>
              <a:t>no notebook, no CLI, no code.</a:t>
            </a:r>
            <a:r>
              <a:rPr lang="en-US" dirty="0"/>
              <a:t>
</a:t>
            </a:r>
            <a:r>
              <a:rPr lang="en-US" b="1" dirty="0"/>
              <a:t>HOW:</a:t>
            </a:r>
            <a:r>
              <a:rPr lang="en-US" dirty="0"/>
              <a:t>
The app splits train/test itself, fits the chosen model correctly (no injected bugs — this is a genuinely honest pipeline by construction), and runs the same run_audit() every other interface uses. The KPI cards are colored by severity with a matching background tint (not just a border), fixed after an earlier version made critical/warning/info look nearly identical. </a:t>
            </a:r>
          </a:p>
          <a:p>
            <a:r>
              <a:rPr lang="en-US" dirty="0"/>
              <a:t>Target-column cleaning handles common real-world formatting issues (commas, currency symbols) with a warning rather than crashing outright, since raw uploaded CSVs are rarely as clean as curated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r>
              <a:rPr lang="en-US" dirty="0"/>
              <a:t>
</a:t>
            </a:r>
            <a:r>
              <a:rPr lang="en-US" b="1" dirty="0"/>
              <a:t>The dashboard's second mode: </a:t>
            </a:r>
            <a:r>
              <a:rPr lang="en-US" b="0" dirty="0"/>
              <a:t>B</a:t>
            </a:r>
            <a:r>
              <a:rPr lang="en-US" dirty="0"/>
              <a:t>ring an already-trained model and audit it as-is, without retraining anything.
</a:t>
            </a:r>
            <a:r>
              <a:rPr lang="en-US" b="1" dirty="0"/>
              <a:t>WHY:</a:t>
            </a:r>
            <a:r>
              <a:rPr lang="en-US" dirty="0"/>
              <a:t>
This mirrors a common real scenario — someone hands you a model file and asks "</a:t>
            </a:r>
            <a:r>
              <a:rPr lang="en-US" b="1" i="1" dirty="0"/>
              <a:t>is this pipeline okay?</a:t>
            </a:r>
            <a:r>
              <a:rPr lang="en-US" dirty="0"/>
              <a:t>" without wanting it retrained from scratch.
</a:t>
            </a:r>
            <a:r>
              <a:rPr lang="en-US" b="1" dirty="0"/>
              <a:t>HOW:</a:t>
            </a:r>
            <a:r>
              <a:rPr lang="en-US" dirty="0"/>
              <a:t>
The target-column field started as a free-text input, which meant typing an exact, case-sensitive column name by hand — error-prone. </a:t>
            </a:r>
          </a:p>
          <a:p>
            <a:r>
              <a:rPr lang="en-US" dirty="0"/>
              <a:t>Fixed by reading the uploaded training CSV's header the moment it's uploaded and populating a real dropdown, matching the first tab's experience. </a:t>
            </a:r>
          </a:p>
          <a:p>
            <a:r>
              <a:rPr lang="en-US" dirty="0"/>
              <a:t>Uses Streamlit's file-object .seek(0) reset so the same upload can be previewed for column names and then saved to disk without going stale.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r>
              <a:rPr lang="en-US" dirty="0"/>
              <a:t>
</a:t>
            </a:r>
            <a:r>
              <a:rPr lang="en-US" b="1" dirty="0"/>
              <a:t>15 pytest tests</a:t>
            </a:r>
            <a:r>
              <a:rPr lang="en-US" dirty="0"/>
              <a:t>, covering every detector's positive and negative behavior plus confidence-score sanity checks.
</a:t>
            </a:r>
            <a:r>
              <a:rPr lang="en-US" b="1" dirty="0"/>
              <a:t>WHY:</a:t>
            </a:r>
            <a:r>
              <a:rPr lang="en-US" dirty="0"/>
              <a:t>
A test suite proving the auditor catches what it claims to catch is an explicit requirement of this challenge, not just good practice.
</a:t>
            </a:r>
            <a:r>
              <a:rPr lang="en-US" b="1" dirty="0"/>
              <a:t>HOW:</a:t>
            </a:r>
          </a:p>
          <a:p>
            <a:r>
              <a:rPr lang="en-US" dirty="0"/>
              <a:t>Tests build their own minimal synthetic fixtures inline (via make_classification/make_regression or small hand-built DataFrames) rather than depending on Titanic.csv, INDUSTRY.csv, or any other project file — standard practice, since a test that depends on an external file can fail for reasons that have nothing to do with whether the detector logic actually works. </a:t>
            </a:r>
          </a:p>
          <a:p>
            <a:r>
              <a:rPr lang="en-US" dirty="0"/>
              <a:t>Symmetry matters here: every detector originally had only a "does it fire" test; two "does it stay silent" tests were added afterward specifically to close that gap for misleading-metrics and overfitting.</a:t>
            </a:r>
          </a:p>
          <a:p>
            <a:endParaRPr lang="en-US" dirty="0"/>
          </a:p>
          <a:p>
            <a:r>
              <a:rPr lang="en-US" b="1" dirty="0"/>
              <a:t>All 15 tests, grouped by detector:</a:t>
            </a:r>
          </a:p>
          <a:p>
            <a:endParaRPr lang="en-US" dirty="0"/>
          </a:p>
          <a:p>
            <a:r>
              <a:rPr lang="en-US" b="1" dirty="0"/>
              <a:t>Train/test contamination</a:t>
            </a:r>
          </a:p>
          <a:p>
            <a:r>
              <a:rPr lang="en-US" dirty="0"/>
              <a:t> - test_detects_duplicate_rows_across_splits</a:t>
            </a:r>
          </a:p>
          <a:p>
            <a:r>
              <a:rPr lang="en-US" dirty="0"/>
              <a:t> - test_no_false_positive_on_clean_split</a:t>
            </a:r>
          </a:p>
          <a:p>
            <a:endParaRPr lang="en-US" dirty="0"/>
          </a:p>
          <a:p>
            <a:r>
              <a:rPr lang="en-US" b="1" dirty="0"/>
              <a:t>Preprocessing leakage</a:t>
            </a:r>
          </a:p>
          <a:p>
            <a:r>
              <a:rPr lang="en-US" dirty="0"/>
              <a:t> - test_detects_scaler_fit_before_split</a:t>
            </a:r>
          </a:p>
          <a:p>
            <a:r>
              <a:rPr lang="en-US" dirty="0"/>
              <a:t> - test_no_false_positive_when_scaler_fit_correctly</a:t>
            </a:r>
          </a:p>
          <a:p>
            <a:endParaRPr lang="en-US" dirty="0"/>
          </a:p>
          <a:p>
            <a:r>
              <a:rPr lang="en-US" b="1" dirty="0"/>
              <a:t>Class imbalance</a:t>
            </a:r>
          </a:p>
          <a:p>
            <a:r>
              <a:rPr lang="en-US" dirty="0"/>
              <a:t> - test_detects_severe_class_imbalance</a:t>
            </a:r>
          </a:p>
          <a:p>
            <a:r>
              <a:rPr lang="en-US" dirty="0"/>
              <a:t> - test_no_false_positive_on_balanced_classes</a:t>
            </a:r>
          </a:p>
          <a:p>
            <a:r>
              <a:rPr lang="en-US" dirty="0"/>
              <a:t> - test_confidence_scales_with_severity_of_imbalance</a:t>
            </a:r>
          </a:p>
          <a:p>
            <a:r>
              <a:rPr lang="en-US" dirty="0"/>
              <a:t> - test_confidence_is_bounded</a:t>
            </a:r>
          </a:p>
          <a:p>
            <a:endParaRPr lang="en-US" dirty="0"/>
          </a:p>
          <a:p>
            <a:r>
              <a:rPr lang="en-US" b="1" dirty="0"/>
              <a:t>Misleading metrics</a:t>
            </a:r>
          </a:p>
          <a:p>
            <a:r>
              <a:rPr lang="en-US" dirty="0"/>
              <a:t> - test_detects_accuracy_f1_gap_on_imbalanced_data</a:t>
            </a:r>
          </a:p>
          <a:p>
            <a:r>
              <a:rPr lang="en-US" dirty="0"/>
              <a:t> - test_no_false_positive_on_balanced_metrics</a:t>
            </a:r>
          </a:p>
          <a:p>
            <a:endParaRPr lang="en-US" dirty="0"/>
          </a:p>
          <a:p>
            <a:r>
              <a:rPr lang="en-US" b="1" dirty="0"/>
              <a:t>Overfitting signal</a:t>
            </a:r>
          </a:p>
          <a:p>
            <a:r>
              <a:rPr lang="en-US" dirty="0"/>
              <a:t> - test_detects_overfitting_regression</a:t>
            </a:r>
          </a:p>
          <a:p>
            <a:r>
              <a:rPr lang="en-US" dirty="0"/>
              <a:t> - test_no_false_positive_on_well_fit_regression</a:t>
            </a:r>
          </a:p>
          <a:p>
            <a:endParaRPr lang="en-US" dirty="0"/>
          </a:p>
          <a:p>
            <a:r>
              <a:rPr lang="en-US" b="1" dirty="0"/>
              <a:t>Data quality</a:t>
            </a:r>
          </a:p>
          <a:p>
            <a:r>
              <a:rPr lang="en-US" dirty="0"/>
              <a:t> - test_detects_missing_values</a:t>
            </a:r>
          </a:p>
          <a:p>
            <a:r>
              <a:rPr lang="en-US" dirty="0"/>
              <a:t> - test_detects_column_mismatch</a:t>
            </a:r>
          </a:p>
          <a:p>
            <a:endParaRPr lang="en-US" dirty="0"/>
          </a:p>
          <a:p>
            <a:r>
              <a:rPr lang="en-US" b="1" dirty="0"/>
              <a:t>End-to-end</a:t>
            </a:r>
          </a:p>
          <a:p>
            <a:r>
              <a:rPr lang="en-US" dirty="0"/>
              <a:t> - test_run_audit_end_to_end_smoke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r>
              <a:rPr lang="en-US" b="1" dirty="0"/>
              <a:t>On detectors: </a:t>
            </a:r>
          </a:p>
          <a:p>
            <a:r>
              <a:rPr lang="en-US" b="0" dirty="0"/>
              <a:t>T</a:t>
            </a:r>
            <a:r>
              <a:rPr lang="en-US" dirty="0"/>
              <a:t>his is covered in more depth on the "What This Tool Detects" slide and in the notebook's own cover section.
</a:t>
            </a:r>
          </a:p>
          <a:p>
            <a:r>
              <a:rPr lang="en-US" b="1" dirty="0"/>
              <a:t>On auto-fix:  </a:t>
            </a:r>
          </a:p>
          <a:p>
            <a:r>
              <a:rPr lang="en-US" dirty="0"/>
              <a:t>The risk isn't conceptual, it's concrete — correctly rewriting someone's pipeline for leakage means safely restructuring their fit/transform calls; </a:t>
            </a:r>
          </a:p>
          <a:p>
            <a:r>
              <a:rPr lang="en-US" dirty="0"/>
              <a:t>for imbalance it means correctly applying class_weight or resampling; </a:t>
            </a:r>
          </a:p>
          <a:p>
            <a:r>
              <a:rPr lang="en-US" dirty="0"/>
              <a:t>for overfitting it means correctly reducing model capacity — each fix is effectively its own project, multiplied by 6 failure types and 4 model types.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project, in eight numbers — detection scope, validation depth, and the final verdict, all in one view.
This is a recap of results already earned, not a spoiler of the conclusion before the case for it has been made.
Every number here is traceable to a specific slide already shown: </a:t>
            </a:r>
            <a:r>
              <a:rPr lang="en-US" b="1" i="1" dirty="0"/>
              <a:t>6 failure categories, 15 passing tests, 4 model types, 8 total audits run (4 proof-of-work + 4 generalizability), 2 real-world datasets, 2 synthetic datasets, 3 separate interfaces, and zero false positives as the final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summary, remaining future work, and where to find everything — </a:t>
            </a:r>
            <a:r>
              <a:rPr lang="en-US" b="1" i="1" dirty="0"/>
              <a:t>repository, live dashboard.</a:t>
            </a:r>
            <a:r>
              <a:rPr lang="en-US" dirty="0"/>
              <a:t>
This project set out to answer one question: can one auditor genuinely generalize across model types and unfamiliar data. </a:t>
            </a:r>
          </a:p>
          <a:p>
            <a:r>
              <a:rPr lang="en-US" dirty="0"/>
              <a:t>Every result in this deck — 4/4 proof-of-work pipelines caught, 4/4 generalizability checks behaving correctly, 15/15 tests passing — supports the same answer. </a:t>
            </a:r>
          </a:p>
          <a:p>
            <a:r>
              <a:rPr lang="en-US" dirty="0"/>
              <a:t>The future-scope items are the honest remainder: known, scoped, and deliberately not rushed.
</a:t>
            </a:r>
            <a:r>
              <a:rPr lang="en-US" b="1" dirty="0"/>
              <a:t>Recap of Toolkit:</a:t>
            </a:r>
            <a:r>
              <a:rPr lang="en-US" dirty="0"/>
              <a:t>
model_doctor.py — the core detector library, 6 categories, confidence-scored.
model_doctor_demo.ipynb — proof-of-work, generalizability, and test-suite narrative.
model_doctor_cli.py — audits any saved .pkl/.joblib model from a terminal.
model_doctor_dashboard.py — live, no-code GUI, two modes.
Tests/test_detectors.py — 15 automated tests.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model-doctor.streamlit.app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-Yousuf-S/HKTS1_Model_Doctor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odel-doctor/model_docto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91440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889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Bahnschrift" panose="020B0502040204020203" pitchFamily="34" charset="0"/>
                <a:ea typeface="Cambria" pitchFamily="34" charset="-122"/>
                <a:cs typeface="Cambria" pitchFamily="34" charset="-120"/>
              </a:rPr>
              <a:t>MODEL DOCTOR</a:t>
            </a:r>
            <a:endParaRPr lang="en-US" sz="5400" dirty="0">
              <a:latin typeface="Bahnschrift" panose="020B0502040204020203" pitchFamily="34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457200" y="3611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DAA520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Automated ML Audit Toolkit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15087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chemeClr val="accent4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 General-Purpose Auditor for Diagnosing Common ML Pipeline Failures</a:t>
            </a: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9267164" y="6309360"/>
            <a:ext cx="277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Yousuf S. R. Sakkaf</a:t>
            </a:r>
            <a:endParaRPr lang="en-US" b="1" dirty="0">
              <a:solidFill>
                <a:schemeClr val="accent1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6666"/>
                </a:solidFill>
                <a:latin typeface="Bahnschrift" panose="020B0502040204020203" pitchFamily="34" charset="0"/>
                <a:ea typeface="Cambria" pitchFamily="34" charset="-122"/>
                <a:cs typeface="Cambria" pitchFamily="34" charset="-120"/>
              </a:rPr>
              <a:t>The Problem: Pipelines Fail Silently</a:t>
            </a:r>
            <a:endParaRPr lang="en-US" sz="4000" dirty="0">
              <a:latin typeface="Bahnschrift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718" y="2029968"/>
            <a:ext cx="384048" cy="384048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model-doctor/ppt/icon_t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014" y="2112264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358" y="1993392"/>
            <a:ext cx="35310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 scaler fit before the train/test split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914718" y="2715768"/>
            <a:ext cx="384048" cy="384048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/home/claude/model-doctor/ppt/icon_cl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014" y="2798064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358" y="2679192"/>
            <a:ext cx="3915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Duplicate rows leaking across splits</a:t>
            </a:r>
          </a:p>
        </p:txBody>
      </p:sp>
      <p:sp>
        <p:nvSpPr>
          <p:cNvPr id="9" name="Shape 5"/>
          <p:cNvSpPr/>
          <p:nvPr/>
        </p:nvSpPr>
        <p:spPr>
          <a:xfrm>
            <a:off x="914718" y="3401568"/>
            <a:ext cx="384048" cy="384048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2" descr="/home/claude/model-doctor/ppt/icon_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014" y="348386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358" y="3364992"/>
            <a:ext cx="41297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4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Accuracy reported on severely imbalanced data</a:t>
            </a:r>
          </a:p>
        </p:txBody>
      </p:sp>
      <p:sp>
        <p:nvSpPr>
          <p:cNvPr id="12" name="Shape 7"/>
          <p:cNvSpPr/>
          <p:nvPr/>
        </p:nvSpPr>
        <p:spPr>
          <a:xfrm>
            <a:off x="914718" y="4087368"/>
            <a:ext cx="384048" cy="384048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/home/claude/model-doctor/ppt/icon_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014" y="4169664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63358" y="4050792"/>
            <a:ext cx="4446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 model that has simply memorized its training set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6840030" y="1558212"/>
            <a:ext cx="4572000" cy="3425268"/>
          </a:xfrm>
          <a:prstGeom prst="roundRect">
            <a:avLst>
              <a:gd name="adj" fmla="val 2727"/>
            </a:avLst>
          </a:prstGeom>
          <a:solidFill>
            <a:srgbClr val="F0FBFA"/>
          </a:solidFill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1"/>
          <p:cNvSpPr txBox="1"/>
          <p:nvPr/>
        </p:nvSpPr>
        <p:spPr>
          <a:xfrm>
            <a:off x="7114350" y="18325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666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The Central Question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7114350" y="2600628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7222B"/>
                </a:solidFill>
                <a:latin typeface="Segoe UI" panose="020B0502040204020203" pitchFamily="34" charset="0"/>
                <a:ea typeface="Cambria" pitchFamily="34" charset="-122"/>
                <a:cs typeface="Segoe UI" panose="020B0502040204020203" pitchFamily="34" charset="0"/>
              </a:rPr>
              <a:t>Can a single, model-agnostic auditor reliably catch real ML pipeline failures across different model types and datasets —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7114350" y="3746334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06666"/>
                </a:solidFill>
                <a:latin typeface="Segoe UI" panose="020B0502040204020203" pitchFamily="34" charset="0"/>
                <a:ea typeface="Cambria" pitchFamily="34" charset="-122"/>
                <a:cs typeface="Segoe UI" panose="020B0502040204020203" pitchFamily="34" charset="0"/>
              </a:rPr>
              <a:t>while staying silent on pipelines that were built correctly?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92240F8-2EEA-6CFE-F9B4-389056CF6A1D}"/>
              </a:ext>
            </a:extLst>
          </p:cNvPr>
          <p:cNvSpPr/>
          <p:nvPr/>
        </p:nvSpPr>
        <p:spPr>
          <a:xfrm>
            <a:off x="914718" y="5550408"/>
            <a:ext cx="10497312" cy="8229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i="1" dirty="0">
              <a:solidFill>
                <a:srgbClr val="5A6B7A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 algn="ctr"/>
            <a:r>
              <a:rPr lang="en-US" sz="1300" b="1" i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These rarely throw errors — they silently produce misleadingly good metrics that only surface once a model is already in production.</a:t>
            </a:r>
            <a:endParaRPr lang="en-US" sz="13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IN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6666"/>
                </a:solidFill>
                <a:latin typeface="Bahnschrift" panose="020B0502040204020203" pitchFamily="34" charset="0"/>
                <a:ea typeface="Cambria" pitchFamily="34" charset="-122"/>
                <a:cs typeface="Cambria" pitchFamily="34" charset="-120"/>
              </a:rPr>
              <a:t>What This Tool Detects</a:t>
            </a:r>
            <a:endParaRPr lang="en-US" sz="4000" dirty="0">
              <a:latin typeface="Bahnschrift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653944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0FBFA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1818536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model-doctor/ppt/icon_t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00832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78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Data Leakage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49808" y="2312312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Scaler/encoder fit before the split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3400" y="1653944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0FBFA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526280" y="1818536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model-doctor/ppt/icon_cl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190083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83480" y="178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Train/Test Contamination</a:t>
            </a:r>
          </a:p>
        </p:txBody>
      </p:sp>
      <p:sp>
        <p:nvSpPr>
          <p:cNvPr id="12" name="Text 8"/>
          <p:cNvSpPr txBox="1"/>
          <p:nvPr/>
        </p:nvSpPr>
        <p:spPr>
          <a:xfrm>
            <a:off x="4544568" y="2312312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Duplicate rows across splits</a:t>
            </a:r>
          </a:p>
        </p:txBody>
      </p:sp>
      <p:sp>
        <p:nvSpPr>
          <p:cNvPr id="13" name="Shape 9"/>
          <p:cNvSpPr/>
          <p:nvPr/>
        </p:nvSpPr>
        <p:spPr>
          <a:xfrm>
            <a:off x="8138160" y="1653944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0FBFA"/>
          </a:solidFill>
          <a:ln w="15875">
            <a:solidFill>
              <a:srgbClr val="B977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321040" y="1818536"/>
            <a:ext cx="365760" cy="365760"/>
          </a:xfrm>
          <a:prstGeom prst="ellipse">
            <a:avLst/>
          </a:prstGeom>
          <a:solidFill>
            <a:srgbClr val="B9770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model-doctor/ppt/icon_chart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190083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778240" y="178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600" b="1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Misleading Metrics</a:t>
            </a:r>
          </a:p>
        </p:txBody>
      </p:sp>
      <p:sp>
        <p:nvSpPr>
          <p:cNvPr id="17" name="Text 12"/>
          <p:cNvSpPr txBox="1"/>
          <p:nvPr/>
        </p:nvSpPr>
        <p:spPr>
          <a:xfrm>
            <a:off x="8339328" y="2312312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300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Accuracy hiding a weak macro-F1</a:t>
            </a:r>
          </a:p>
        </p:txBody>
      </p:sp>
      <p:sp>
        <p:nvSpPr>
          <p:cNvPr id="18" name="Shape 13"/>
          <p:cNvSpPr/>
          <p:nvPr/>
        </p:nvSpPr>
        <p:spPr>
          <a:xfrm>
            <a:off x="548640" y="36804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0FBFA"/>
          </a:solidFill>
          <a:ln w="15875">
            <a:solidFill>
              <a:srgbClr val="B977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731520" y="3845052"/>
            <a:ext cx="365760" cy="365760"/>
          </a:xfrm>
          <a:prstGeom prst="ellipse">
            <a:avLst/>
          </a:prstGeom>
          <a:solidFill>
            <a:srgbClr val="B9770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/home/claude/model-doctor/ppt/icon_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392734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38084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Overfitting Signals</a:t>
            </a:r>
          </a:p>
        </p:txBody>
      </p:sp>
      <p:sp>
        <p:nvSpPr>
          <p:cNvPr id="22" name="Text 16"/>
          <p:cNvSpPr txBox="1"/>
          <p:nvPr/>
        </p:nvSpPr>
        <p:spPr>
          <a:xfrm>
            <a:off x="749808" y="4338828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Large train/test performance gap</a:t>
            </a:r>
          </a:p>
        </p:txBody>
      </p:sp>
      <p:sp>
        <p:nvSpPr>
          <p:cNvPr id="23" name="Shape 17"/>
          <p:cNvSpPr/>
          <p:nvPr/>
        </p:nvSpPr>
        <p:spPr>
          <a:xfrm>
            <a:off x="4343400" y="36804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0FBFA"/>
          </a:solidFill>
          <a:ln w="15875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4526280" y="3845052"/>
            <a:ext cx="365760" cy="365760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/home/claude/model-doctor/ppt/icon_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8576" y="392734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983480" y="38084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600" b="1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Data Quality Issues</a:t>
            </a:r>
          </a:p>
        </p:txBody>
      </p:sp>
      <p:sp>
        <p:nvSpPr>
          <p:cNvPr id="27" name="Text 20"/>
          <p:cNvSpPr txBox="1"/>
          <p:nvPr/>
        </p:nvSpPr>
        <p:spPr>
          <a:xfrm>
            <a:off x="4544568" y="4338828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300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Missing values, column mismatches</a:t>
            </a:r>
          </a:p>
        </p:txBody>
      </p:sp>
      <p:sp>
        <p:nvSpPr>
          <p:cNvPr id="28" name="Shape 21"/>
          <p:cNvSpPr/>
          <p:nvPr/>
        </p:nvSpPr>
        <p:spPr>
          <a:xfrm>
            <a:off x="8138160" y="36804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0FBFA"/>
          </a:solidFill>
          <a:ln w="15875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8321040" y="3845052"/>
            <a:ext cx="365760" cy="365760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/home/claude/model-doctor/ppt/icon_bal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3336" y="3927348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778240" y="38084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Class Imbalance</a:t>
            </a:r>
          </a:p>
        </p:txBody>
      </p:sp>
      <p:sp>
        <p:nvSpPr>
          <p:cNvPr id="32" name="Text 24"/>
          <p:cNvSpPr txBox="1"/>
          <p:nvPr/>
        </p:nvSpPr>
        <p:spPr>
          <a:xfrm>
            <a:off x="8339328" y="4338828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Majority-class-only blindness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371E530-843A-0F5A-9B7A-08A4CE010193}"/>
              </a:ext>
            </a:extLst>
          </p:cNvPr>
          <p:cNvSpPr/>
          <p:nvPr/>
        </p:nvSpPr>
        <p:spPr>
          <a:xfrm>
            <a:off x="548640" y="5652205"/>
            <a:ext cx="11155680" cy="8229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i="1" dirty="0">
              <a:solidFill>
                <a:srgbClr val="5A6B7A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 algn="ctr"/>
            <a:r>
              <a:rPr lang="en-US" sz="1300" b="1" i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Every finding also carries a confidence score — how far past its flagging threshold it sits, not just severity.</a:t>
            </a:r>
          </a:p>
          <a:p>
            <a:pPr algn="ctr"/>
            <a:endParaRPr lang="en-IN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6666"/>
                </a:solidFill>
                <a:latin typeface="Bahnschrift" panose="020B0502040204020203" pitchFamily="34" charset="0"/>
                <a:ea typeface="Cambria" pitchFamily="34" charset="-122"/>
                <a:cs typeface="Cambria" pitchFamily="34" charset="-120"/>
              </a:rPr>
              <a:t>Proof-of-Work: 4 Deliberately-Flawed Pipelines</a:t>
            </a:r>
            <a:endParaRPr lang="en-US" sz="4000" dirty="0">
              <a:latin typeface="Bahnschrift" panose="020B0502040204020203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103112"/>
            <a:ext cx="108347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Built specifically to break the auditor — then confirmed it caught every one.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45720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#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88720" y="1691640"/>
            <a:ext cx="3017520" cy="45720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280160" y="1691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Dataset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06240" y="1691640"/>
            <a:ext cx="2651760" cy="45720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29768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Model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0" y="1691640"/>
            <a:ext cx="3383280" cy="45720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94944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Bug Demonstrated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241280" y="1691640"/>
            <a:ext cx="1371600" cy="457200"/>
          </a:xfrm>
          <a:prstGeom prst="rect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033272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Result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640080" cy="502920"/>
          </a:xfrm>
          <a:prstGeom prst="rect">
            <a:avLst/>
          </a:prstGeom>
          <a:solidFill>
            <a:srgbClr val="F0FBFA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" y="2148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1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88720" y="2148840"/>
            <a:ext cx="3017520" cy="502920"/>
          </a:xfrm>
          <a:prstGeom prst="rect">
            <a:avLst/>
          </a:prstGeom>
          <a:solidFill>
            <a:srgbClr val="F0FBFA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1280160" y="2148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breast_cancer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206240" y="2148840"/>
            <a:ext cx="2651760" cy="502920"/>
          </a:xfrm>
          <a:prstGeom prst="rect">
            <a:avLst/>
          </a:prstGeom>
          <a:solidFill>
            <a:srgbClr val="F0FBFA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29768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LogisticRegression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0" y="2148840"/>
            <a:ext cx="3383280" cy="502920"/>
          </a:xfrm>
          <a:prstGeom prst="rect">
            <a:avLst/>
          </a:prstGeom>
          <a:solidFill>
            <a:srgbClr val="F0FBFA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949440" y="2148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Scaler fit before split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241280" y="2148840"/>
            <a:ext cx="1371600" cy="502920"/>
          </a:xfrm>
          <a:prstGeom prst="rect">
            <a:avLst/>
          </a:prstGeom>
          <a:solidFill>
            <a:srgbClr val="F0FBFA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10332720" y="2148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Critical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265176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40080" y="26517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2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188720" y="2651760"/>
            <a:ext cx="3017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1280160" y="2651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wine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206240" y="265176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429768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RandomForest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858000" y="265176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949440" y="2651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Duplicate rows injected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241280" y="26517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10332720" y="2651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Critical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3154680"/>
            <a:ext cx="640080" cy="502920"/>
          </a:xfrm>
          <a:prstGeom prst="rect">
            <a:avLst/>
          </a:prstGeom>
          <a:solidFill>
            <a:srgbClr val="F0FBFA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640080" y="3154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3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188720" y="3154680"/>
            <a:ext cx="3017520" cy="502920"/>
          </a:xfrm>
          <a:prstGeom prst="rect">
            <a:avLst/>
          </a:prstGeom>
          <a:solidFill>
            <a:srgbClr val="F0FBFA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1280160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diabetes (regression)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206240" y="3154680"/>
            <a:ext cx="2651760" cy="502920"/>
          </a:xfrm>
          <a:prstGeom prst="rect">
            <a:avLst/>
          </a:prstGeom>
          <a:solidFill>
            <a:srgbClr val="F0FBFA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429768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XGBoost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858000" y="3154680"/>
            <a:ext cx="3383280" cy="502920"/>
          </a:xfrm>
          <a:prstGeom prst="rect">
            <a:avLst/>
          </a:prstGeom>
          <a:solidFill>
            <a:srgbClr val="F0FBFA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694944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Unconstrained depth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0241280" y="3154680"/>
            <a:ext cx="1371600" cy="502920"/>
          </a:xfrm>
          <a:prstGeom prst="rect">
            <a:avLst/>
          </a:prstGeom>
          <a:solidFill>
            <a:srgbClr val="F0FBFA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10332720" y="3154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Critical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8640" y="3657600"/>
            <a:ext cx="640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 txBox="1"/>
          <p:nvPr/>
        </p:nvSpPr>
        <p:spPr>
          <a:xfrm>
            <a:off x="64008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188720" y="3657600"/>
            <a:ext cx="3017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 txBox="1"/>
          <p:nvPr/>
        </p:nvSpPr>
        <p:spPr>
          <a:xfrm>
            <a:off x="1280160" y="3657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breast_cancer (imbalanced)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206240" y="365760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 txBox="1"/>
          <p:nvPr/>
        </p:nvSpPr>
        <p:spPr>
          <a:xfrm>
            <a:off x="4297680" y="3657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LogisticRegression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858000" y="365760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 txBox="1"/>
          <p:nvPr/>
        </p:nvSpPr>
        <p:spPr>
          <a:xfrm>
            <a:off x="694944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Severe imbalance + misleading acc.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0241280" y="365760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 txBox="1"/>
          <p:nvPr/>
        </p:nvSpPr>
        <p:spPr>
          <a:xfrm>
            <a:off x="10332720" y="3657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Critical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 52"/>
          <p:cNvSpPr txBox="1"/>
          <p:nvPr/>
        </p:nvSpPr>
        <p:spPr>
          <a:xfrm>
            <a:off x="800566" y="590534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BD353987-9E58-2438-3F4D-88A1F897757D}"/>
              </a:ext>
            </a:extLst>
          </p:cNvPr>
          <p:cNvSpPr/>
          <p:nvPr/>
        </p:nvSpPr>
        <p:spPr>
          <a:xfrm>
            <a:off x="548640" y="5017536"/>
            <a:ext cx="11064240" cy="75811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i="1" dirty="0">
              <a:solidFill>
                <a:srgbClr val="5A6B7A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 algn="ctr"/>
            <a:r>
              <a:rPr lang="en-US" sz="1300" b="1" i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Every intended bug was caught, correctly scored as critical, with a plain-language explanation and a concrete suggested fix.</a:t>
            </a:r>
          </a:p>
          <a:p>
            <a:pPr algn="ctr"/>
            <a:endParaRPr lang="en-IN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6666"/>
                </a:solidFill>
                <a:latin typeface="Bahnschrift" panose="020B0502040204020203" pitchFamily="34" charset="0"/>
                <a:ea typeface="Cambria" pitchFamily="34" charset="-122"/>
                <a:cs typeface="Cambria" pitchFamily="34" charset="-120"/>
              </a:rPr>
              <a:t>Generalizability: Beyond Our Own Fixtures</a:t>
            </a:r>
            <a:endParaRPr lang="en-US" sz="4000" dirty="0">
              <a:latin typeface="Bahnschrift" panose="020B0502040204020203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362269" y="1094130"/>
            <a:ext cx="947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The same, unmodified auditor — run against data it was never tuned against.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07806"/>
            <a:ext cx="2697480" cy="3242388"/>
          </a:xfrm>
          <a:prstGeom prst="roundRect">
            <a:avLst>
              <a:gd name="adj" fmla="val 3390"/>
            </a:avLst>
          </a:prstGeom>
          <a:solidFill>
            <a:srgbClr val="F0FBF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13232" y="1990686"/>
            <a:ext cx="2368296" cy="45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Titanic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13232" y="2466174"/>
            <a:ext cx="2368296" cy="290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Real data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2950806"/>
            <a:ext cx="2368296" cy="45726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13232" y="2950806"/>
            <a:ext cx="2368296" cy="45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1 Critical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13232" y="3778897"/>
            <a:ext cx="2368296" cy="979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Genuine duplicate feature-rows — not a planted bug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29000" y="1807806"/>
            <a:ext cx="2697480" cy="3242388"/>
          </a:xfrm>
          <a:prstGeom prst="roundRect">
            <a:avLst>
              <a:gd name="adj" fmla="val 3390"/>
            </a:avLst>
          </a:prstGeom>
          <a:solidFill>
            <a:srgbClr val="F0FBFA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93592" y="1990686"/>
            <a:ext cx="2368296" cy="45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INDUSTRY.csv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593592" y="2466174"/>
            <a:ext cx="2368296" cy="290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Real, 15,000 rows</a:t>
            </a:r>
          </a:p>
        </p:txBody>
      </p:sp>
      <p:sp>
        <p:nvSpPr>
          <p:cNvPr id="13" name="Shape 11"/>
          <p:cNvSpPr/>
          <p:nvPr/>
        </p:nvSpPr>
        <p:spPr>
          <a:xfrm>
            <a:off x="3593592" y="2950806"/>
            <a:ext cx="2368296" cy="457260"/>
          </a:xfrm>
          <a:prstGeom prst="roundRect">
            <a:avLst>
              <a:gd name="adj" fmla="val 10909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593592" y="2950806"/>
            <a:ext cx="2368296" cy="45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0 Findings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593592" y="3778898"/>
            <a:ext cx="2368296" cy="979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Clean pass on a properly-built, honestly-weak model</a:t>
            </a:r>
          </a:p>
        </p:txBody>
      </p:sp>
      <p:sp>
        <p:nvSpPr>
          <p:cNvPr id="16" name="Shape 14"/>
          <p:cNvSpPr/>
          <p:nvPr/>
        </p:nvSpPr>
        <p:spPr>
          <a:xfrm>
            <a:off x="6309360" y="1807806"/>
            <a:ext cx="2697480" cy="3242388"/>
          </a:xfrm>
          <a:prstGeom prst="roundRect">
            <a:avLst>
              <a:gd name="adj" fmla="val 3390"/>
            </a:avLst>
          </a:prstGeom>
          <a:solidFill>
            <a:srgbClr val="F0FBFA"/>
          </a:solidFill>
          <a:ln w="19050">
            <a:solidFill>
              <a:srgbClr val="B977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73952" y="1990686"/>
            <a:ext cx="2368296" cy="45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make_classification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473952" y="2466174"/>
            <a:ext cx="2368296" cy="290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200" i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Synthetic</a:t>
            </a:r>
          </a:p>
        </p:txBody>
      </p:sp>
      <p:sp>
        <p:nvSpPr>
          <p:cNvPr id="19" name="Shape 17"/>
          <p:cNvSpPr/>
          <p:nvPr/>
        </p:nvSpPr>
        <p:spPr>
          <a:xfrm>
            <a:off x="6473952" y="2950806"/>
            <a:ext cx="2368296" cy="457260"/>
          </a:xfrm>
          <a:prstGeom prst="roundRect">
            <a:avLst>
              <a:gd name="adj" fmla="val 10909"/>
            </a:avLst>
          </a:prstGeom>
          <a:solidFill>
            <a:srgbClr val="B9770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73952" y="2950806"/>
            <a:ext cx="2368296" cy="45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1 Warning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73952" y="3778898"/>
            <a:ext cx="2368296" cy="979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Moderate, correctly-scaled overfitting signal</a:t>
            </a:r>
          </a:p>
        </p:txBody>
      </p:sp>
      <p:sp>
        <p:nvSpPr>
          <p:cNvPr id="22" name="Shape 20"/>
          <p:cNvSpPr/>
          <p:nvPr/>
        </p:nvSpPr>
        <p:spPr>
          <a:xfrm>
            <a:off x="9189720" y="1807806"/>
            <a:ext cx="2697480" cy="3242388"/>
          </a:xfrm>
          <a:prstGeom prst="roundRect">
            <a:avLst>
              <a:gd name="adj" fmla="val 3390"/>
            </a:avLst>
          </a:prstGeom>
          <a:solidFill>
            <a:srgbClr val="F0FBFA"/>
          </a:solidFill>
          <a:ln w="19050">
            <a:solidFill>
              <a:srgbClr val="B977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9354312" y="1990686"/>
            <a:ext cx="2368296" cy="45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make_regression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9354312" y="2466174"/>
            <a:ext cx="2368296" cy="290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Synthetic</a:t>
            </a:r>
          </a:p>
        </p:txBody>
      </p:sp>
      <p:sp>
        <p:nvSpPr>
          <p:cNvPr id="25" name="Shape 23"/>
          <p:cNvSpPr/>
          <p:nvPr/>
        </p:nvSpPr>
        <p:spPr>
          <a:xfrm>
            <a:off x="9354312" y="2950806"/>
            <a:ext cx="2368296" cy="457260"/>
          </a:xfrm>
          <a:prstGeom prst="roundRect">
            <a:avLst>
              <a:gd name="adj" fmla="val 10909"/>
            </a:avLst>
          </a:prstGeom>
          <a:solidFill>
            <a:srgbClr val="B9770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9354312" y="2950806"/>
            <a:ext cx="2368296" cy="45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1 Warning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9354312" y="3778898"/>
            <a:ext cx="2368296" cy="979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Moderate, correctly-scaled overfitting signal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5DF071-F9E9-4368-0EE9-E9BB004ECA38}"/>
              </a:ext>
            </a:extLst>
          </p:cNvPr>
          <p:cNvSpPr/>
          <p:nvPr/>
        </p:nvSpPr>
        <p:spPr>
          <a:xfrm>
            <a:off x="548640" y="5689574"/>
            <a:ext cx="11338560" cy="75811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i="1" dirty="0">
              <a:solidFill>
                <a:srgbClr val="5A6B7A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 algn="ctr"/>
            <a:r>
              <a:rPr lang="en-US" sz="1300" b="1" i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Generalizability is weighted second most heavily among this challenge's evaluation criteria — right after detection breadth.</a:t>
            </a:r>
          </a:p>
          <a:p>
            <a:pPr algn="ctr"/>
            <a:endParaRPr lang="en-IN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6666"/>
                </a:solidFill>
                <a:latin typeface="Bahnschrift" panose="020B0502040204020203" pitchFamily="34" charset="0"/>
                <a:ea typeface="Cambria" pitchFamily="34" charset="-122"/>
                <a:cs typeface="Cambria" pitchFamily="34" charset="-120"/>
              </a:rPr>
              <a:t>Confidence Scoring: Beyond Severity</a:t>
            </a:r>
            <a:endParaRPr lang="en-US" sz="4000" dirty="0">
              <a:latin typeface="Bahnschrift" panose="020B0502040204020203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914642" y="1293106"/>
            <a:ext cx="8332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i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Severity answers “how bad.” Confidence answers “how sure are we this isn’t a borderline call.”</a:t>
            </a:r>
          </a:p>
        </p:txBody>
      </p:sp>
      <p:sp>
        <p:nvSpPr>
          <p:cNvPr id="4" name="Shape 2"/>
          <p:cNvSpPr/>
          <p:nvPr/>
        </p:nvSpPr>
        <p:spPr>
          <a:xfrm>
            <a:off x="1314523" y="2316091"/>
            <a:ext cx="4036741" cy="2651760"/>
          </a:xfrm>
          <a:prstGeom prst="roundRect">
            <a:avLst>
              <a:gd name="adj" fmla="val 3448"/>
            </a:avLst>
          </a:prstGeom>
          <a:solidFill>
            <a:srgbClr val="F0FBFA"/>
          </a:solidFill>
          <a:ln w="19050">
            <a:solidFill>
              <a:srgbClr val="B977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914400" y="248182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770E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Borderline Case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698171" y="2984746"/>
            <a:ext cx="31070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Class imbalance ratio: 4.3 : 1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(threshold is 4.0 : 1)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2793585" y="3807706"/>
            <a:ext cx="11999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977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793585" y="4539226"/>
            <a:ext cx="10786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confidence</a:t>
            </a:r>
            <a:endParaRPr lang="en-US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62369" y="2300462"/>
            <a:ext cx="4068784" cy="2651760"/>
          </a:xfrm>
          <a:prstGeom prst="roundRect">
            <a:avLst>
              <a:gd name="adj" fmla="val 3448"/>
            </a:avLst>
          </a:prstGeom>
          <a:solidFill>
            <a:srgbClr val="F0FBF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675120" y="248182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Clear-Cut Case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427167" y="2984746"/>
            <a:ext cx="30365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Class imbalance ratio: 24 : 1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(threshold is 4.0 : 1)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34873" y="3870571"/>
            <a:ext cx="1199917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434873" y="4539226"/>
            <a:ext cx="10636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confidence</a:t>
            </a:r>
            <a:endParaRPr lang="en-US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834EDF3-9708-1A83-99D7-47A85909E095}"/>
              </a:ext>
            </a:extLst>
          </p:cNvPr>
          <p:cNvSpPr/>
          <p:nvPr/>
        </p:nvSpPr>
        <p:spPr>
          <a:xfrm>
            <a:off x="1314522" y="5592302"/>
            <a:ext cx="9616631" cy="75811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i="1" dirty="0">
              <a:solidFill>
                <a:srgbClr val="5A6B7A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 algn="ctr"/>
            <a:endParaRPr lang="en-US" sz="1300" b="1" i="1" dirty="0">
              <a:solidFill>
                <a:srgbClr val="5A6B7A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 algn="ctr"/>
            <a:r>
              <a:rPr lang="en-US" sz="1300" b="1" i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Both are flagged with the same severity — but confidence makes the difference between them visible, computed directly from each detector's own threshold math, not a separately invented number.</a:t>
            </a:r>
          </a:p>
          <a:p>
            <a:pPr algn="ctr"/>
            <a:endParaRPr lang="en-US" sz="1300" b="1" i="1" dirty="0">
              <a:solidFill>
                <a:srgbClr val="5A6B7A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 algn="ctr"/>
            <a:endParaRPr lang="en-IN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6666"/>
                </a:solidFill>
                <a:latin typeface="Bahnschrift" panose="020B0502040204020203" pitchFamily="34" charset="0"/>
                <a:ea typeface="Cambria" pitchFamily="34" charset="-122"/>
                <a:cs typeface="Cambria" pitchFamily="34" charset="-120"/>
              </a:rPr>
              <a:t>Beyond the Notebook: The CLI</a:t>
            </a:r>
            <a:endParaRPr lang="en-US" sz="4000" dirty="0">
              <a:latin typeface="Bahnschrift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180901" cy="2688149"/>
          </a:xfrm>
          <a:prstGeom prst="roundRect">
            <a:avLst>
              <a:gd name="adj" fmla="val 2041"/>
            </a:avLst>
          </a:prstGeom>
          <a:solidFill>
            <a:srgbClr val="0B12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model-doctor/ppt/icon_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56232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37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Command-Line Tool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68680" y="2400300"/>
            <a:ext cx="282624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model_doctor_cli.py \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--model </a:t>
            </a:r>
            <a:r>
              <a:rPr lang="en-US" sz="1200" dirty="0" err="1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model.pkl</a:t>
            </a:r>
            <a:r>
              <a:rPr lang="en-US" sz="1200" dirty="0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--train train.csv \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--test test.csv \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--target Survived \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 report.html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7732" y="1691640"/>
            <a:ext cx="55134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3CEE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Works identically in a Colab shell or a local terminal — a plain script, not a server.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622332" y="2409444"/>
            <a:ext cx="128016" cy="128016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5896651" y="2263140"/>
            <a:ext cx="53965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EE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Audits any saved .pkl / .joblib model — satisfies the “works via CLI” bonus directly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622332" y="3003804"/>
            <a:ext cx="128016" cy="128016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896651" y="2857500"/>
            <a:ext cx="5284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EE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Timestamped output filenames, glob-based “latest model” pickup — matches real ML-ops file conventions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622332" y="3598164"/>
            <a:ext cx="128016" cy="128016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5896651" y="3451860"/>
            <a:ext cx="52845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EE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Shares audit_from_files() with the dashboard’s “existing model” mode — one function, two interfaces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E8DCD361-F9A5-3058-9FDC-8C86F34EDF8F}"/>
              </a:ext>
            </a:extLst>
          </p:cNvPr>
          <p:cNvSpPr/>
          <p:nvPr/>
        </p:nvSpPr>
        <p:spPr>
          <a:xfrm>
            <a:off x="538348" y="4518069"/>
            <a:ext cx="11180901" cy="2032021"/>
          </a:xfrm>
          <a:prstGeom prst="roundRect">
            <a:avLst>
              <a:gd name="adj" fmla="val 2041"/>
            </a:avLst>
          </a:prstGeom>
          <a:solidFill>
            <a:srgbClr val="F0FBFA"/>
          </a:solidFill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9B0FA16B-AC22-82B8-42D0-83C07557A78C}"/>
              </a:ext>
            </a:extLst>
          </p:cNvPr>
          <p:cNvSpPr/>
          <p:nvPr/>
        </p:nvSpPr>
        <p:spPr>
          <a:xfrm>
            <a:off x="868680" y="4622481"/>
            <a:ext cx="451602" cy="502920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1" descr="/home/claude/model-doctor/ppt/icon_desktop.png">
            <a:extLst>
              <a:ext uri="{FF2B5EF4-FFF2-40B4-BE49-F238E27FC236}">
                <a16:creationId xmlns:a16="http://schemas.microsoft.com/office/drawing/2014/main" id="{1E388A05-57EF-02CE-6B08-67D2983AB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292" y="4741353"/>
            <a:ext cx="238117" cy="265176"/>
          </a:xfrm>
          <a:prstGeom prst="rect">
            <a:avLst/>
          </a:prstGeom>
        </p:spPr>
      </p:pic>
      <p:sp>
        <p:nvSpPr>
          <p:cNvPr id="29" name="Text 14">
            <a:extLst>
              <a:ext uri="{FF2B5EF4-FFF2-40B4-BE49-F238E27FC236}">
                <a16:creationId xmlns:a16="http://schemas.microsoft.com/office/drawing/2014/main" id="{A1EA3FEE-8080-A9B7-D2FC-6C468CD715E3}"/>
              </a:ext>
            </a:extLst>
          </p:cNvPr>
          <p:cNvSpPr txBox="1"/>
          <p:nvPr/>
        </p:nvSpPr>
        <p:spPr>
          <a:xfrm>
            <a:off x="1457441" y="4611284"/>
            <a:ext cx="36949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Non-Technical GUI Too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0761BE-8119-30FC-D694-389D556E28F9}"/>
              </a:ext>
            </a:extLst>
          </p:cNvPr>
          <p:cNvSpPr txBox="1"/>
          <p:nvPr/>
        </p:nvSpPr>
        <p:spPr>
          <a:xfrm>
            <a:off x="868680" y="5159829"/>
            <a:ext cx="4937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Mode 1: </a:t>
            </a:r>
            <a:r>
              <a:rPr lang="en-US" sz="14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upload a CSV, pick a target and model — trains and audits in one step.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7EB611-751F-A5E0-356D-97EC115BEC91}"/>
              </a:ext>
            </a:extLst>
          </p:cNvPr>
          <p:cNvSpPr txBox="1"/>
          <p:nvPr/>
        </p:nvSpPr>
        <p:spPr>
          <a:xfrm>
            <a:off x="6433443" y="5114204"/>
            <a:ext cx="4937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Mode 2: </a:t>
            </a:r>
            <a:r>
              <a:rPr lang="en-US" sz="14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upload an existing .pkl model plus its train/test CSVs — audits it as-is.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2E82E6A-76E3-E411-D1CE-0ECB0A487453}"/>
              </a:ext>
            </a:extLst>
          </p:cNvPr>
          <p:cNvSpPr/>
          <p:nvPr/>
        </p:nvSpPr>
        <p:spPr>
          <a:xfrm>
            <a:off x="987552" y="5854170"/>
            <a:ext cx="10193640" cy="48295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i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Both shown in full on the next two slides. No code required — goes beyond the brief entirely.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6666"/>
                </a:solidFill>
                <a:latin typeface="Bahnschrift" panose="020B0502040204020203" pitchFamily="34" charset="0"/>
                <a:ea typeface="Cambria" pitchFamily="34" charset="-122"/>
                <a:cs typeface="Cambria" pitchFamily="34" charset="-120"/>
              </a:rPr>
              <a:t>Live Dashboard: Train &amp; Audit a New Model</a:t>
            </a:r>
            <a:endParaRPr lang="en-US" sz="4000" dirty="0">
              <a:latin typeface="Bahnschrift" panose="020B0502040204020203" pitchFamily="34" charset="0"/>
            </a:endParaRPr>
          </a:p>
        </p:txBody>
      </p:sp>
      <p:pic>
        <p:nvPicPr>
          <p:cNvPr id="3" name="Image 0" descr="/home/claude/model-doctor/ppt/real_ta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097279"/>
            <a:ext cx="8206740" cy="529418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28899" y="1097280"/>
            <a:ext cx="2796376" cy="5294188"/>
          </a:xfrm>
          <a:prstGeom prst="roundRect">
            <a:avLst>
              <a:gd name="adj" fmla="val 2410"/>
            </a:avLst>
          </a:prstGeom>
          <a:solidFill>
            <a:srgbClr val="F0FBFA"/>
          </a:solidFill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9096375" y="1371600"/>
            <a:ext cx="228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666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How It Works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86A0C3-CE1B-F884-A44F-975DFDC8A064}"/>
              </a:ext>
            </a:extLst>
          </p:cNvPr>
          <p:cNvSpPr txBox="1"/>
          <p:nvPr/>
        </p:nvSpPr>
        <p:spPr>
          <a:xfrm>
            <a:off x="8982074" y="2011680"/>
            <a:ext cx="263080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6666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Upload any CSV</a:t>
            </a:r>
          </a:p>
          <a:p>
            <a:pPr>
              <a:buClr>
                <a:srgbClr val="006666"/>
              </a:buClr>
              <a:buSzPct val="140000"/>
            </a:pPr>
            <a:endParaRPr lang="en-US" sz="1300" dirty="0">
              <a:solidFill>
                <a:srgbClr val="17222B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 marL="285750" indent="-285750">
              <a:buClr>
                <a:srgbClr val="006666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Pick target column, task type, and model (LogisticRegression / RandomForest / XGBoost)</a:t>
            </a:r>
          </a:p>
          <a:p>
            <a:pPr>
              <a:buClr>
                <a:srgbClr val="006666"/>
              </a:buClr>
              <a:buSzPct val="140000"/>
            </a:pP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006666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One click trains the model and runs the full audit</a:t>
            </a:r>
          </a:p>
          <a:p>
            <a:pPr>
              <a:buClr>
                <a:srgbClr val="006666"/>
              </a:buClr>
              <a:buSzPct val="140000"/>
            </a:pP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006666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KPI row + full report render inline, with confidence % on every finding</a:t>
            </a:r>
          </a:p>
          <a:p>
            <a:pPr>
              <a:buClr>
                <a:srgbClr val="006666"/>
              </a:buClr>
              <a:buSzPct val="140000"/>
            </a:pP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006666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Built-in cleanup for messy numeric columns (currency symbols, commas) with a friendly warning — not a crash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Clr>
                <a:srgbClr val="006666"/>
              </a:buClr>
              <a:buSzPct val="140000"/>
            </a:pP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6666"/>
                </a:solidFill>
                <a:latin typeface="Bahnschrift" panose="020B0502040204020203" pitchFamily="34" charset="0"/>
                <a:ea typeface="Cambria" pitchFamily="34" charset="-122"/>
                <a:cs typeface="Cambria" pitchFamily="34" charset="-120"/>
              </a:rPr>
              <a:t>Live Dashboard: Audit an Existing Model</a:t>
            </a:r>
            <a:endParaRPr lang="en-US" sz="4000" dirty="0">
              <a:latin typeface="Bahnschrift" panose="020B0502040204020203" pitchFamily="34" charset="0"/>
            </a:endParaRPr>
          </a:p>
        </p:txBody>
      </p:sp>
      <p:pic>
        <p:nvPicPr>
          <p:cNvPr id="3" name="Image 0" descr="/home/claude/model-doctor/ppt/real_ta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13" y="1097280"/>
            <a:ext cx="8272172" cy="53235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836089" y="1097280"/>
            <a:ext cx="2916135" cy="5322570"/>
          </a:xfrm>
          <a:prstGeom prst="roundRect">
            <a:avLst>
              <a:gd name="adj" fmla="val 2410"/>
            </a:avLst>
          </a:prstGeom>
          <a:solidFill>
            <a:srgbClr val="F0FBFA"/>
          </a:solidFill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8997510" y="1371600"/>
            <a:ext cx="13314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666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How It Works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DB2735-C76E-203F-4765-B4A2C028A0E0}"/>
              </a:ext>
            </a:extLst>
          </p:cNvPr>
          <p:cNvSpPr txBox="1"/>
          <p:nvPr/>
        </p:nvSpPr>
        <p:spPr>
          <a:xfrm>
            <a:off x="8997510" y="2112942"/>
            <a:ext cx="26153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6666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Upload a fitted .pkl / .joblib model</a:t>
            </a:r>
          </a:p>
          <a:p>
            <a:pPr>
              <a:buClr>
                <a:srgbClr val="006666"/>
              </a:buClr>
              <a:buSzPct val="140000"/>
            </a:pPr>
            <a:endParaRPr lang="en-US" sz="1300" dirty="0">
              <a:solidFill>
                <a:srgbClr val="17222B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 marL="285750" indent="-285750">
              <a:buClr>
                <a:srgbClr val="006666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Upload the exact train and test CSVs it was evaluated on</a:t>
            </a:r>
          </a:p>
          <a:p>
            <a:pPr>
              <a:buClr>
                <a:srgbClr val="006666"/>
              </a:buClr>
              <a:buSzPct val="140000"/>
            </a:pPr>
            <a:endParaRPr lang="en-US" sz="1300" dirty="0">
              <a:solidFill>
                <a:srgbClr val="17222B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 marL="285750" indent="-285750">
              <a:buClr>
                <a:srgbClr val="006666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Target column is a real dropdown, populated from the uploaded CSV — no manual typing, no typos</a:t>
            </a:r>
          </a:p>
          <a:p>
            <a:pPr>
              <a:buClr>
                <a:srgbClr val="006666"/>
              </a:buClr>
              <a:buSzPct val="140000"/>
            </a:pPr>
            <a:endParaRPr lang="en-US" sz="1300" dirty="0">
              <a:solidFill>
                <a:srgbClr val="17222B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 marL="285750" indent="-285750">
              <a:buClr>
                <a:srgbClr val="006666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Runs audit_from_files() — the same function backing the CLI</a:t>
            </a:r>
          </a:p>
          <a:p>
            <a:pPr>
              <a:buClr>
                <a:srgbClr val="006666"/>
              </a:buClr>
              <a:buSzPct val="140000"/>
            </a:pPr>
            <a:endParaRPr lang="en-US" sz="1300" dirty="0">
              <a:solidFill>
                <a:srgbClr val="17222B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 marL="285750" indent="-285750">
              <a:buClr>
                <a:srgbClr val="006666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This is the GUI equivalent of the CLI bonus feature</a:t>
            </a:r>
          </a:p>
          <a:p>
            <a:pPr>
              <a:buClr>
                <a:srgbClr val="006666"/>
              </a:buClr>
              <a:buSzPct val="140000"/>
            </a:pPr>
            <a:endParaRPr lang="en-US" sz="1300" dirty="0">
              <a:solidFill>
                <a:srgbClr val="17222B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6666"/>
                </a:solidFill>
                <a:latin typeface="Bahnschrift" panose="020B0502040204020203" pitchFamily="34" charset="0"/>
                <a:ea typeface="Cambria" pitchFamily="34" charset="-122"/>
                <a:cs typeface="Cambria" pitchFamily="34" charset="-120"/>
              </a:rPr>
              <a:t>Validation: 15 Automated Tests</a:t>
            </a:r>
            <a:endParaRPr lang="en-US" sz="4000" dirty="0">
              <a:latin typeface="Bahnschrift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99074" y="1576873"/>
            <a:ext cx="3108960" cy="3657600"/>
          </a:xfrm>
          <a:prstGeom prst="roundRect">
            <a:avLst>
              <a:gd name="adj" fmla="val 3529"/>
            </a:avLst>
          </a:prstGeom>
          <a:solidFill>
            <a:srgbClr val="0B12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466333" y="2104053"/>
            <a:ext cx="731520" cy="73152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model-doctor/ppt/icon_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213" y="2286933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9074" y="2902753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15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1299074" y="3679993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3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99074" y="4457233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E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 -v</a:t>
            </a:r>
            <a:endParaRPr lang="en-US" sz="1200" dirty="0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547D4778-DA62-A6DD-81A2-887593BC9BEB}"/>
              </a:ext>
            </a:extLst>
          </p:cNvPr>
          <p:cNvSpPr/>
          <p:nvPr/>
        </p:nvSpPr>
        <p:spPr>
          <a:xfrm>
            <a:off x="5934774" y="1576872"/>
            <a:ext cx="4198271" cy="3657601"/>
          </a:xfrm>
          <a:prstGeom prst="roundRect">
            <a:avLst>
              <a:gd name="adj" fmla="val 1852"/>
            </a:avLst>
          </a:prstGeom>
          <a:solidFill>
            <a:srgbClr val="F0FBFA"/>
          </a:solidFill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5B8A04-92F4-69E0-5260-C7A353417F17}"/>
              </a:ext>
            </a:extLst>
          </p:cNvPr>
          <p:cNvSpPr txBox="1"/>
          <p:nvPr/>
        </p:nvSpPr>
        <p:spPr>
          <a:xfrm>
            <a:off x="6080760" y="1941264"/>
            <a:ext cx="3797559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6666"/>
              </a:buClr>
              <a:buSzPct val="16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Each of the 6 detectors gets a positive test (fires on a genuinely broken scenario) and a negative test (stays silent on a clean one)</a:t>
            </a:r>
          </a:p>
          <a:p>
            <a:pPr marL="285750" indent="-285750">
              <a:buClr>
                <a:srgbClr val="006666"/>
              </a:buClr>
              <a:buSzPct val="160000"/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17222B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 marL="285750" indent="-285750">
              <a:buClr>
                <a:srgbClr val="006666"/>
              </a:buClr>
              <a:buSzPct val="16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2 additional tests confirm confidence scores scale with severity and stay bounded between 0 and 1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006666"/>
              </a:buClr>
              <a:buSzPct val="160000"/>
              <a:buFont typeface="Arial" panose="020B0604020202020204" pitchFamily="34" charset="0"/>
              <a:buChar char="•"/>
            </a:pP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006666"/>
              </a:buClr>
              <a:buSzPct val="16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1 end-to-end smoke test runs the full run_audit() pipeline</a:t>
            </a:r>
          </a:p>
          <a:p>
            <a:pPr marL="285750" indent="-285750">
              <a:buClr>
                <a:srgbClr val="006666"/>
              </a:buClr>
              <a:buSzPct val="160000"/>
              <a:buFont typeface="Arial" panose="020B0604020202020204" pitchFamily="34" charset="0"/>
              <a:buChar char="•"/>
            </a:pPr>
            <a:endParaRPr lang="en-IN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Clr>
                <a:srgbClr val="006666"/>
              </a:buClr>
              <a:buSzPct val="16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Every fixture is built fresh inside the test itself — no dependency on project CSVs, so tests stay fast, deterministic, and independent</a:t>
            </a:r>
          </a:p>
          <a:p>
            <a:endParaRPr lang="en-IN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6666"/>
                </a:solidFill>
                <a:latin typeface="Bahnschrift" panose="020B0502040204020203" pitchFamily="34" charset="0"/>
                <a:ea typeface="Cambria" pitchFamily="34" charset="-122"/>
                <a:cs typeface="Cambria" pitchFamily="34" charset="-120"/>
              </a:rPr>
              <a:t>Key Challenges &amp; Learnings</a:t>
            </a:r>
            <a:endParaRPr lang="en-US" sz="4000" dirty="0">
              <a:latin typeface="Bahnschrift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97278" y="1600200"/>
            <a:ext cx="4800601" cy="3242388"/>
          </a:xfrm>
          <a:prstGeom prst="roundRect">
            <a:avLst>
              <a:gd name="adj" fmla="val 1852"/>
            </a:avLst>
          </a:prstGeom>
          <a:solidFill>
            <a:srgbClr val="F0FBFA"/>
          </a:solidFill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11480" cy="411480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model-doctor/ppt/icon_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013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Scope: Why These 6 Categories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371600" y="2377440"/>
            <a:ext cx="4251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Not an arbitrary choice — these are the exact Core Requirements named in the brief. “Duplicates” and “missing values” aren’t gaps: they’re folded into contamination and data-quality respectively. General EDA is out of scope by design — auditing a trained pipeline is a different task from exploring data before modeling.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396572" y="1609064"/>
            <a:ext cx="4781008" cy="3233524"/>
          </a:xfrm>
          <a:prstGeom prst="roundRect">
            <a:avLst>
              <a:gd name="adj" fmla="val 1852"/>
            </a:avLst>
          </a:prstGeom>
          <a:solidFill>
            <a:srgbClr val="F0FBFA"/>
          </a:solidFill>
          <a:ln w="19050">
            <a:solidFill>
              <a:srgbClr val="B977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446520" y="1828800"/>
            <a:ext cx="411480" cy="411480"/>
          </a:xfrm>
          <a:prstGeom prst="ellipse">
            <a:avLst/>
          </a:prstGeom>
          <a:solidFill>
            <a:srgbClr val="B9770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model-doctor/ppt/icon_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9202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95160" y="1801368"/>
            <a:ext cx="3986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Detection vs. Correction Is a Different Problem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6766560" y="2377440"/>
            <a:ext cx="4150256" cy="2082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22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The brief's bonus asks for auto-suggest, apply, and re-run with a before/after comparison. The key learning: detecting a bug is a check, but automatically and safely correcting six different failure types across four model types is six mini-projects, not one feature. Judged too high-risk to attempt without threatening everything already working.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61E93B-BDA8-64A3-2AD2-B0686C0CC3FB}"/>
              </a:ext>
            </a:extLst>
          </p:cNvPr>
          <p:cNvSpPr/>
          <p:nvPr/>
        </p:nvSpPr>
        <p:spPr>
          <a:xfrm>
            <a:off x="1097278" y="5526989"/>
            <a:ext cx="10080302" cy="6858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i="1" dirty="0">
                <a:solidFill>
                  <a:srgbClr val="5A6B7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Bonus items actually implemented: severity scoring, confidence scoring, and the CLI-on-any-.pkl feature.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odel-doctor/hero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1115568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odel-doctor/model_docto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6576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Bahnschrift" panose="020B0502040204020203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4000" dirty="0">
              <a:latin typeface="Bahnschrift" panose="020B0502040204020203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31520" y="201168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141B2D"/>
          </a:solidFill>
          <a:ln w="19050">
            <a:solidFill>
              <a:srgbClr val="DAA5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960120" y="2194560"/>
            <a:ext cx="384048" cy="384048"/>
          </a:xfrm>
          <a:prstGeom prst="ellipse">
            <a:avLst/>
          </a:prstGeom>
          <a:solidFill>
            <a:srgbClr val="DAA5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/home/claude/model-doctor/ppt/icon_trop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2295144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2130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AA52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Final Verdict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1463040" y="2450592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8ECF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Zero false positives across every tested scenario, real and synthetic alike — severity- and confidence-aware, model-agnostic auditing is achievable without hardcoding to any single dataset or model type.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731520" y="3429000"/>
            <a:ext cx="10698480" cy="1920240"/>
          </a:xfrm>
          <a:prstGeom prst="roundRect">
            <a:avLst>
              <a:gd name="adj" fmla="val 4762"/>
            </a:avLst>
          </a:prstGeom>
          <a:solidFill>
            <a:srgbClr val="141B2D"/>
          </a:solidFill>
          <a:ln w="19050">
            <a:solidFill>
              <a:srgbClr val="008B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100584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B8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Future Scope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1005840" y="4023360"/>
            <a:ext cx="118872" cy="118872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1261872" y="38862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3CEE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Auto-suggest-and-apply-fix, with a before/after comparison — the highest-effort deprioritized bonus (see previous slide)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1005840" y="4480560"/>
            <a:ext cx="118872" cy="118872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1261872" y="43434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3CEE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Extending leakage detection to more preprocessing types (e.g. SimpleImputer, not just scaler-style attributes)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1005840" y="4937760"/>
            <a:ext cx="118872" cy="118872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 txBox="1"/>
          <p:nvPr/>
        </p:nvSpPr>
        <p:spPr>
          <a:xfrm>
            <a:off x="1261872" y="48006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3CEE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 CLI flag to run the full generalizability suite against a user-supplied model directly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2377440" y="5623560"/>
            <a:ext cx="365760" cy="365760"/>
          </a:xfrm>
          <a:prstGeom prst="ellipse">
            <a:avLst/>
          </a:prstGeom>
          <a:solidFill>
            <a:srgbClr val="008B8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/home/claude/model-doctor/ppt/icon_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9736" y="5705856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834640" y="5623560"/>
            <a:ext cx="3808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FFCC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Model Doctor Repo</a:t>
            </a:r>
            <a:endParaRPr lang="en-US" sz="1400" b="1" dirty="0">
              <a:solidFill>
                <a:srgbClr val="CCFFC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949440" y="5623560"/>
            <a:ext cx="365760" cy="365760"/>
          </a:xfrm>
          <a:prstGeom prst="ellipse">
            <a:avLst/>
          </a:prstGeom>
          <a:solidFill>
            <a:srgbClr val="DAA52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model-doctor/ppt/icon_deskt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1736" y="5705856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06640" y="5623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00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  <a:hlinkClick r:id="rId8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STREAMLIT: Model Doctor Dashboard</a:t>
            </a:r>
            <a:endParaRPr lang="en-US" sz="1400" b="1" dirty="0">
              <a:solidFill>
                <a:srgbClr val="FFC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4396597" y="6286500"/>
            <a:ext cx="3297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" panose="020B0502040204020203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3519</Words>
  <Application>Microsoft Office PowerPoint</Application>
  <PresentationFormat>Custom</PresentationFormat>
  <Paragraphs>240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Bahnschrift</vt:lpstr>
      <vt:lpstr>Calibri</vt:lpstr>
      <vt:lpstr>Cambria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Doctor Presentation</dc:title>
  <dc:subject>PptxGenJS Presentation</dc:subject>
  <dc:creator>Yousuf Sakkaf</dc:creator>
  <cp:lastModifiedBy>Yousuf Sakkaf</cp:lastModifiedBy>
  <cp:revision>8</cp:revision>
  <dcterms:created xsi:type="dcterms:W3CDTF">2026-09-23T08:00:29Z</dcterms:created>
  <dcterms:modified xsi:type="dcterms:W3CDTF">2026-09-24T06:37:42Z</dcterms:modified>
</cp:coreProperties>
</file>